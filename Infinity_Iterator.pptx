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A1DB728-D2D5-4A9B-9183-3DED9BA906B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A27AF4-2EA6-49F2-981A-503E40831AA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393A70-D143-4281-BF26-6EC5E23F85A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172EB3-88BC-4360-99B8-0365501CCC3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26B8EE-E218-41EF-97F6-0FF38EDEC26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23157AD-BBE2-4B17-8BF5-C4373CA3E9B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EC0E3F-3A2E-4E39-A9BE-2C82BAE540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88DCD6-AD8B-4924-A800-9DF7557D761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1700F5-F1E5-43E3-9C4D-EF939018502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3DD72F2-0E73-4A8C-A066-052879EA2CD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3F3FFB-392C-46B2-A10E-4AF7C0A54EA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DC0C432-35BD-438B-A522-F5DF70C4F7F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9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0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1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3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6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8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A081B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0"/>
          <p:cNvSpPr/>
          <p:nvPr/>
        </p:nvSpPr>
        <p:spPr>
          <a:xfrm>
            <a:off x="864000" y="1284120"/>
            <a:ext cx="74156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StockIt: Your Advanced Mobile Trading Platform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864000" y="3026160"/>
            <a:ext cx="7415640" cy="157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Welcome to StockIt, a cutting-edge mobile application designed for seamless stock trading. Experience real-time market data, comprehensive portfolio management, and an intuitive, secure platform.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875723" y="4884120"/>
            <a:ext cx="74156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0FCFF"/>
                </a:solidFill>
                <a:effectLst/>
                <a:uFillTx/>
                <a:latin typeface="Barlow"/>
                <a:ea typeface="Barlow"/>
              </a:rPr>
              <a:t>         Team Infinity Iterator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864000" y="4976280"/>
            <a:ext cx="308160" cy="308160"/>
          </a:xfrm>
          <a:prstGeom prst="roundRect">
            <a:avLst>
              <a:gd name="adj" fmla="val 150000"/>
            </a:avLst>
          </a:prstGeom>
          <a:noFill/>
          <a:ln w="38100">
            <a:solidFill>
              <a:srgbClr val="16FF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1"/>
          <p:cNvSpPr/>
          <p:nvPr/>
        </p:nvSpPr>
        <p:spPr>
          <a:xfrm>
            <a:off x="4954320" y="5819343"/>
            <a:ext cx="2820003" cy="872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numCol="1" spcCol="0" anchor="ctr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By Shashank Shekhar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    (22BCE3319)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2"/>
          <p:cNvSpPr/>
          <p:nvPr/>
        </p:nvSpPr>
        <p:spPr>
          <a:xfrm>
            <a:off x="864000" y="5819343"/>
            <a:ext cx="3168368" cy="872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numCol="1" spcCol="0" anchor="ctr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By </a:t>
            </a:r>
            <a:r>
              <a:rPr lang="en-US" sz="1800" b="0" u="none" strike="noStrike" dirty="0" err="1">
                <a:solidFill>
                  <a:schemeClr val="lt1"/>
                </a:solidFill>
                <a:effectLst/>
                <a:uFillTx/>
                <a:latin typeface="Arial"/>
              </a:rPr>
              <a:t>Gamidi</a:t>
            </a: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Surya Vardhin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    (22BDS0114)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864000" y="766440"/>
            <a:ext cx="5673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Our Key Contributions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3"/>
          <a:stretch/>
        </p:blipFill>
        <p:spPr>
          <a:xfrm>
            <a:off x="864000" y="194580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"/>
          <p:cNvSpPr/>
          <p:nvPr/>
        </p:nvSpPr>
        <p:spPr>
          <a:xfrm>
            <a:off x="1789920" y="2092320"/>
            <a:ext cx="55299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UI/UX Development (</a:t>
            </a:r>
            <a:r>
              <a:rPr lang="en-US" sz="2150" b="1" u="none" strike="noStrike" dirty="0" err="1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Gamidi</a:t>
            </a: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 Surya Vardhin)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789920" y="2583360"/>
            <a:ext cx="1197612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Designed and implemented intuitive user interfaces for onboarding, home, and profile screens. Focused on responsive design for seamless interaction.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" descr="preencoded.png"/>
          <p:cNvPicPr/>
          <p:nvPr/>
        </p:nvPicPr>
        <p:blipFill>
          <a:blip r:embed="rId4"/>
          <a:stretch/>
        </p:blipFill>
        <p:spPr>
          <a:xfrm>
            <a:off x="864000" y="399060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3"/>
          <p:cNvSpPr/>
          <p:nvPr/>
        </p:nvSpPr>
        <p:spPr>
          <a:xfrm>
            <a:off x="1789920" y="4137480"/>
            <a:ext cx="47808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Market Features  (Shashank Shekhar)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1789920" y="4628160"/>
            <a:ext cx="1197612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Developed interactive stock detail views with live charts. Created personalized watchlist functionality for efficient stock tracking and management.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2" descr="preencoded.png"/>
          <p:cNvPicPr/>
          <p:nvPr/>
        </p:nvPicPr>
        <p:blipFill>
          <a:blip r:embed="rId5"/>
          <a:stretch/>
        </p:blipFill>
        <p:spPr>
          <a:xfrm>
            <a:off x="864000" y="603576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5"/>
          <p:cNvSpPr/>
          <p:nvPr/>
        </p:nvSpPr>
        <p:spPr>
          <a:xfrm>
            <a:off x="1789920" y="6182280"/>
            <a:ext cx="46695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System Integration (Shashank Shekhar)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1789920" y="6673320"/>
            <a:ext cx="1197612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Integrated secure REST APIs for robust data communication. Managed authentication and ensured smooth data flow with comprehensive error handling.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864000" y="766440"/>
            <a:ext cx="5673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Our Key Contributions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3"/>
          <a:stretch/>
        </p:blipFill>
        <p:spPr>
          <a:xfrm>
            <a:off x="864000" y="194580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"/>
          <p:cNvSpPr/>
          <p:nvPr/>
        </p:nvSpPr>
        <p:spPr>
          <a:xfrm>
            <a:off x="1789920" y="2092320"/>
            <a:ext cx="49669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Authentication System (Shashank Shekhar)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1789920" y="2583360"/>
            <a:ext cx="1197612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Developed secure sign-in and sign-up flows. Managed authentication states and JWT tokens. Ensured robust session handling.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1" descr="preencoded.png"/>
          <p:cNvPicPr/>
          <p:nvPr/>
        </p:nvPicPr>
        <p:blipFill>
          <a:blip r:embed="rId4"/>
          <a:stretch/>
        </p:blipFill>
        <p:spPr>
          <a:xfrm>
            <a:off x="864000" y="399060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3"/>
          <p:cNvSpPr/>
          <p:nvPr/>
        </p:nvSpPr>
        <p:spPr>
          <a:xfrm>
            <a:off x="1789920" y="4137480"/>
            <a:ext cx="44287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Stock Detail Screen (</a:t>
            </a:r>
            <a:r>
              <a:rPr lang="en-US" sz="2150" b="1" u="none" strike="noStrike" dirty="0" err="1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Gamidi</a:t>
            </a: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 Surya Vardhin)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789920" y="4628160"/>
            <a:ext cx="1197612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Built interactive charts with live prices. Displayed company information and multiple timeframes. Delivered comprehensive market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2" descr="preencoded.png"/>
          <p:cNvPicPr/>
          <p:nvPr/>
        </p:nvPicPr>
        <p:blipFill>
          <a:blip r:embed="rId5"/>
          <a:stretch/>
        </p:blipFill>
        <p:spPr>
          <a:xfrm>
            <a:off x="864000" y="603576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5"/>
          <p:cNvSpPr/>
          <p:nvPr/>
        </p:nvSpPr>
        <p:spPr>
          <a:xfrm>
            <a:off x="1789920" y="6182280"/>
            <a:ext cx="54043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Watchlist Management (</a:t>
            </a:r>
            <a:r>
              <a:rPr lang="en-US" sz="2150" b="1" u="none" strike="noStrike" dirty="0" err="1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Gamidi</a:t>
            </a:r>
            <a:r>
              <a:rPr lang="en-US" sz="2150" b="1" u="none" strike="noStrike" dirty="0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 Surya Vardhin)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1789920" y="6673320"/>
            <a:ext cx="1197612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Created personalized watchlists for stocks. Enabled adding, removing, and live price monitoring. Ensured data persistence and sync.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684000" y="538200"/>
            <a:ext cx="687168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249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Sleek Design and User Experience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684000" y="1549800"/>
            <a:ext cx="5751000" cy="93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StockIt features a stunning dark-themed interface with modern glassmorphism effects. Enjoy smooth, spring-based animations and a responsive layout that adapts to any screen size.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684000" y="2707200"/>
            <a:ext cx="439200" cy="439200"/>
          </a:xfrm>
          <a:prstGeom prst="roundRect">
            <a:avLst>
              <a:gd name="adj" fmla="val 66669"/>
            </a:avLst>
          </a:prstGeom>
          <a:solidFill>
            <a:srgbClr val="0A081B"/>
          </a:solidFill>
          <a:ln w="22860">
            <a:solidFill>
              <a:srgbClr val="16FF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1319040" y="2774520"/>
            <a:ext cx="2171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Modern UI/UX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1319040" y="3241440"/>
            <a:ext cx="511596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Elegant dark mode and responsive design.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684000" y="3944520"/>
            <a:ext cx="439200" cy="439200"/>
          </a:xfrm>
          <a:prstGeom prst="roundRect">
            <a:avLst>
              <a:gd name="adj" fmla="val 66669"/>
            </a:avLst>
          </a:prstGeom>
          <a:solidFill>
            <a:srgbClr val="0A081B"/>
          </a:solidFill>
          <a:ln w="22860">
            <a:solidFill>
              <a:srgbClr val="29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319040" y="4011840"/>
            <a:ext cx="2171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Smooth Animations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1319040" y="4478760"/>
            <a:ext cx="511596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Engaging spring-based transitions.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684000" y="5181840"/>
            <a:ext cx="439200" cy="439200"/>
          </a:xfrm>
          <a:prstGeom prst="roundRect">
            <a:avLst>
              <a:gd name="adj" fmla="val 66669"/>
            </a:avLst>
          </a:prstGeom>
          <a:solidFill>
            <a:srgbClr val="0A081B"/>
          </a:solidFill>
          <a:ln w="22860">
            <a:solidFill>
              <a:srgbClr val="37A7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1319040" y="5249160"/>
            <a:ext cx="2171160" cy="27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Accessibility First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1319040" y="5716080"/>
            <a:ext cx="511596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Full support for screen readers and semantic descriptions.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0" descr="preencoded.png"/>
          <p:cNvPicPr/>
          <p:nvPr/>
        </p:nvPicPr>
        <p:blipFill>
          <a:blip r:embed="rId3"/>
          <a:stretch/>
        </p:blipFill>
        <p:spPr>
          <a:xfrm>
            <a:off x="6919560" y="1593720"/>
            <a:ext cx="2529360" cy="538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1"/>
          <p:cNvSpPr/>
          <p:nvPr/>
        </p:nvSpPr>
        <p:spPr>
          <a:xfrm>
            <a:off x="6919560" y="7202880"/>
            <a:ext cx="314172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4"/>
          <a:stretch/>
        </p:blipFill>
        <p:spPr>
          <a:xfrm>
            <a:off x="10989000" y="1593720"/>
            <a:ext cx="2529360" cy="538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2"/>
          <p:cNvSpPr/>
          <p:nvPr/>
        </p:nvSpPr>
        <p:spPr>
          <a:xfrm>
            <a:off x="10546200" y="7202880"/>
            <a:ext cx="3415320" cy="31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6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864000" y="870480"/>
            <a:ext cx="67557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Real-Time Market Insights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864000" y="2050200"/>
            <a:ext cx="1290204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Stay ahead with live stock prices and interactive charts. Access trending stocks and advanced analytics to make informed decisions, all updated instantly via WebSocket connections.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3"/>
          <a:stretch/>
        </p:blipFill>
        <p:spPr>
          <a:xfrm>
            <a:off x="864000" y="311796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2"/>
          <p:cNvSpPr/>
          <p:nvPr/>
        </p:nvSpPr>
        <p:spPr>
          <a:xfrm>
            <a:off x="864000" y="404388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Live Stock Prices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64000" y="4534560"/>
            <a:ext cx="6296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Instant updates for accurate trading.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1" descr="preencoded.png"/>
          <p:cNvPicPr/>
          <p:nvPr/>
        </p:nvPicPr>
        <p:blipFill>
          <a:blip r:embed="rId4"/>
          <a:stretch/>
        </p:blipFill>
        <p:spPr>
          <a:xfrm>
            <a:off x="7469640" y="311796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4"/>
          <p:cNvSpPr/>
          <p:nvPr/>
        </p:nvSpPr>
        <p:spPr>
          <a:xfrm>
            <a:off x="7469640" y="404388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Interactive Charts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7469640" y="4534560"/>
            <a:ext cx="6296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Multiple timeframes for detailed analysis.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5"/>
          <a:stretch/>
        </p:blipFill>
        <p:spPr>
          <a:xfrm>
            <a:off x="864000" y="554688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6"/>
          <p:cNvSpPr/>
          <p:nvPr/>
        </p:nvSpPr>
        <p:spPr>
          <a:xfrm>
            <a:off x="864000" y="647280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Trending Stocks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864000" y="6963840"/>
            <a:ext cx="6296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Curated lists of top performers.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3" descr="preencoded.png"/>
          <p:cNvPicPr/>
          <p:nvPr/>
        </p:nvPicPr>
        <p:blipFill>
          <a:blip r:embed="rId6"/>
          <a:stretch/>
        </p:blipFill>
        <p:spPr>
          <a:xfrm>
            <a:off x="7469640" y="5546880"/>
            <a:ext cx="617040" cy="6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8"/>
          <p:cNvSpPr/>
          <p:nvPr/>
        </p:nvSpPr>
        <p:spPr>
          <a:xfrm>
            <a:off x="7469640" y="647280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Advanced Analytics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7469640" y="6963840"/>
            <a:ext cx="62964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Technical indicators and market statistics.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687240" y="540360"/>
            <a:ext cx="6428880" cy="54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4249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Effortless Portfolio and Trading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687240" y="1557000"/>
            <a:ext cx="5883840" cy="94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Manage your investments with ease. Track real-time portfolio value, detailed holdings, and transaction history. Execute trades seamlessly with market orders and real-time price validation.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3"/>
          <a:stretch/>
        </p:blipFill>
        <p:spPr>
          <a:xfrm>
            <a:off x="687240" y="2720880"/>
            <a:ext cx="981720" cy="11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"/>
          <p:cNvSpPr/>
          <p:nvPr/>
        </p:nvSpPr>
        <p:spPr>
          <a:xfrm>
            <a:off x="1865520" y="2917440"/>
            <a:ext cx="21819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Portfolio Overview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1865520" y="3386520"/>
            <a:ext cx="470556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Real-time value and P&amp;L tracking.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1" descr="preencoded.png"/>
          <p:cNvPicPr/>
          <p:nvPr/>
        </p:nvPicPr>
        <p:blipFill>
          <a:blip r:embed="rId4"/>
          <a:stretch/>
        </p:blipFill>
        <p:spPr>
          <a:xfrm>
            <a:off x="687240" y="3899160"/>
            <a:ext cx="981720" cy="11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4"/>
          <p:cNvSpPr/>
          <p:nvPr/>
        </p:nvSpPr>
        <p:spPr>
          <a:xfrm>
            <a:off x="1865520" y="4095720"/>
            <a:ext cx="23173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Holdings Management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1865520" y="4564800"/>
            <a:ext cx="470556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Detailed performance metrics.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2" descr="preencoded.png"/>
          <p:cNvPicPr/>
          <p:nvPr/>
        </p:nvPicPr>
        <p:blipFill>
          <a:blip r:embed="rId5"/>
          <a:stretch/>
        </p:blipFill>
        <p:spPr>
          <a:xfrm>
            <a:off x="687240" y="5077800"/>
            <a:ext cx="981720" cy="11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6"/>
          <p:cNvSpPr/>
          <p:nvPr/>
        </p:nvSpPr>
        <p:spPr>
          <a:xfrm>
            <a:off x="1865520" y="5274000"/>
            <a:ext cx="23587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Performance Analytics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1865520" y="5743080"/>
            <a:ext cx="470556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Profit/loss with percentage calculations.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3" descr="preencoded.png"/>
          <p:cNvPicPr/>
          <p:nvPr/>
        </p:nvPicPr>
        <p:blipFill>
          <a:blip r:embed="rId6"/>
          <a:stretch/>
        </p:blipFill>
        <p:spPr>
          <a:xfrm>
            <a:off x="7468920" y="1601280"/>
            <a:ext cx="2522880" cy="53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8"/>
          <p:cNvSpPr/>
          <p:nvPr/>
        </p:nvSpPr>
        <p:spPr>
          <a:xfrm>
            <a:off x="7058160" y="7198200"/>
            <a:ext cx="334440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Image 4" descr="preencoded.png"/>
          <p:cNvPicPr/>
          <p:nvPr/>
        </p:nvPicPr>
        <p:blipFill>
          <a:blip r:embed="rId7"/>
          <a:stretch/>
        </p:blipFill>
        <p:spPr>
          <a:xfrm>
            <a:off x="11162160" y="1601280"/>
            <a:ext cx="2522880" cy="53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9"/>
          <p:cNvSpPr/>
          <p:nvPr/>
        </p:nvSpPr>
        <p:spPr>
          <a:xfrm>
            <a:off x="10889640" y="7198200"/>
            <a:ext cx="306828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6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70600" y="577800"/>
            <a:ext cx="3623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549"/>
              </a:lnSpc>
              <a:tabLst>
                <a:tab pos="0" algn="l"/>
              </a:tabLst>
            </a:pPr>
            <a:endParaRPr lang="en-US" sz="28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3"/>
          <a:stretch/>
        </p:blipFill>
        <p:spPr>
          <a:xfrm>
            <a:off x="570600" y="1458720"/>
            <a:ext cx="2094840" cy="446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1"/>
          <p:cNvSpPr/>
          <p:nvPr/>
        </p:nvSpPr>
        <p:spPr>
          <a:xfrm>
            <a:off x="570600" y="6105960"/>
            <a:ext cx="1994760" cy="22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Sign-In Success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570600" y="6495480"/>
            <a:ext cx="307368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Displays a welcome message after successful login with user info and a "Continue to Dashboard" button.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4"/>
          <a:stretch/>
        </p:blipFill>
        <p:spPr>
          <a:xfrm>
            <a:off x="4050000" y="1458720"/>
            <a:ext cx="2094840" cy="446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3"/>
          <p:cNvSpPr/>
          <p:nvPr/>
        </p:nvSpPr>
        <p:spPr>
          <a:xfrm>
            <a:off x="4050000" y="6105960"/>
            <a:ext cx="2614680" cy="22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Stock Detail &amp; Holdings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4050000" y="6495480"/>
            <a:ext cx="307368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Shows stock statistics, user holdings, investment value, and P&amp;L with "Buy" and "Sell" action buttons.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2" descr="preencoded.png"/>
          <p:cNvPicPr/>
          <p:nvPr/>
        </p:nvPicPr>
        <p:blipFill>
          <a:blip r:embed="rId5"/>
          <a:stretch/>
        </p:blipFill>
        <p:spPr>
          <a:xfrm>
            <a:off x="7529040" y="1458720"/>
            <a:ext cx="2094840" cy="446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5"/>
          <p:cNvSpPr/>
          <p:nvPr/>
        </p:nvSpPr>
        <p:spPr>
          <a:xfrm>
            <a:off x="7529040" y="6105960"/>
            <a:ext cx="307368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Profile - Recent Transactions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7529040" y="6721920"/>
            <a:ext cx="307368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Lists recent buy/sell transactions with stock name, quantity, price, and timestamps.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3" descr="preencoded.png"/>
          <p:cNvPicPr/>
          <p:nvPr/>
        </p:nvPicPr>
        <p:blipFill>
          <a:blip r:embed="rId6"/>
          <a:stretch/>
        </p:blipFill>
        <p:spPr>
          <a:xfrm>
            <a:off x="11008440" y="1458720"/>
            <a:ext cx="2094840" cy="446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7"/>
          <p:cNvSpPr/>
          <p:nvPr/>
        </p:nvSpPr>
        <p:spPr>
          <a:xfrm>
            <a:off x="11008440" y="6105960"/>
            <a:ext cx="2954880" cy="22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Profile - Portfolio Summary Screen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11008440" y="6495480"/>
            <a:ext cx="3073680" cy="78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04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Displays available balance, total invested, profit/loss, and a summary of all owned stocks.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Image 1" descr="preencoded.png"/>
          <p:cNvPicPr/>
          <p:nvPr/>
        </p:nvPicPr>
        <p:blipFill>
          <a:blip r:embed="rId4"/>
          <a:stretch/>
        </p:blipFill>
        <p:spPr>
          <a:xfrm>
            <a:off x="944280" y="281880"/>
            <a:ext cx="3597480" cy="76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0"/>
          <p:cNvSpPr/>
          <p:nvPr/>
        </p:nvSpPr>
        <p:spPr>
          <a:xfrm>
            <a:off x="6275880" y="620640"/>
            <a:ext cx="7564680" cy="125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4901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Secure and Smart Watchlist Management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6275880" y="2211840"/>
            <a:ext cx="7564680" cy="10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Personalize your trading experience with synchronized watchlists and price alerts. StockIt ensures secure authentication and data encryption for all your financial activities.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2" descr="preencoded.png"/>
          <p:cNvPicPr/>
          <p:nvPr/>
        </p:nvPicPr>
        <p:blipFill>
          <a:blip r:embed="rId5"/>
          <a:stretch/>
        </p:blipFill>
        <p:spPr>
          <a:xfrm>
            <a:off x="6275880" y="3548520"/>
            <a:ext cx="112752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2"/>
          <p:cNvSpPr/>
          <p:nvPr/>
        </p:nvSpPr>
        <p:spPr>
          <a:xfrm>
            <a:off x="7629120" y="3774240"/>
            <a:ext cx="2505960" cy="31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Personal Watchlist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7629120" y="4222800"/>
            <a:ext cx="621108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Track your favorite stocks.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3" descr="preencoded.png"/>
          <p:cNvPicPr/>
          <p:nvPr/>
        </p:nvPicPr>
        <p:blipFill>
          <a:blip r:embed="rId6"/>
          <a:stretch/>
        </p:blipFill>
        <p:spPr>
          <a:xfrm>
            <a:off x="6275880" y="4902120"/>
            <a:ext cx="112752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4"/>
          <p:cNvSpPr/>
          <p:nvPr/>
        </p:nvSpPr>
        <p:spPr>
          <a:xfrm>
            <a:off x="7629120" y="5127480"/>
            <a:ext cx="2505960" cy="31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Price Alerts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7629120" y="5576040"/>
            <a:ext cx="621108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Monitor stock movements.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4" descr="preencoded.png"/>
          <p:cNvPicPr/>
          <p:nvPr/>
        </p:nvPicPr>
        <p:blipFill>
          <a:blip r:embed="rId7"/>
          <a:stretch/>
        </p:blipFill>
        <p:spPr>
          <a:xfrm>
            <a:off x="6275880" y="6255360"/>
            <a:ext cx="112752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6"/>
          <p:cNvSpPr/>
          <p:nvPr/>
        </p:nvSpPr>
        <p:spPr>
          <a:xfrm>
            <a:off x="7629120" y="6481080"/>
            <a:ext cx="2505960" cy="31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449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Synchronized Data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7629120" y="6929280"/>
            <a:ext cx="621108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Cloud-based watchlist sync.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864000" y="1609920"/>
            <a:ext cx="91800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Robust Architecture and Tech Stack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864000" y="2789640"/>
            <a:ext cx="1290204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StockIt is built on MVVM + Clean Architecture principles for maintainable, testable code. It utilizes cutting-edge Android technologies for a smooth and powerful experience.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864000" y="4104360"/>
            <a:ext cx="2937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Frontend Technologies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864000" y="469404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Jetpack Compose: Declarative UI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864000" y="517536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Material 3: Latest design components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864000" y="565668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Hilt: Dependency injection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864000" y="613800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StateFlow/Flow: Reactive programming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7624080" y="4104360"/>
            <a:ext cx="2742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Networking &amp; Data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7624080" y="469404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Retrofit/OkHttp: HTTP clients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7624080" y="517536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Gson: JSON serialization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7624080" y="565668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Coroutines: Asynchronous ops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7624080" y="6138000"/>
            <a:ext cx="614952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marL="343080" indent="-343080" defTabSz="914400">
              <a:lnSpc>
                <a:spcPts val="3101"/>
              </a:lnSpc>
              <a:buClr>
                <a:srgbClr val="E0E4E6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SharedPreferences: Local storage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3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Image 1" descr="preencoded.png"/>
          <p:cNvPicPr/>
          <p:nvPr/>
        </p:nvPicPr>
        <p:blipFill>
          <a:blip r:embed="rId4"/>
          <a:stretch/>
        </p:blipFill>
        <p:spPr>
          <a:xfrm>
            <a:off x="10057680" y="218520"/>
            <a:ext cx="3658320" cy="779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0"/>
          <p:cNvSpPr/>
          <p:nvPr/>
        </p:nvSpPr>
        <p:spPr>
          <a:xfrm>
            <a:off x="611640" y="480600"/>
            <a:ext cx="53236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3801"/>
              </a:lnSpc>
              <a:tabLst>
                <a:tab pos="0" algn="l"/>
              </a:tabLst>
            </a:pPr>
            <a:r>
              <a:rPr lang="en-US" sz="305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Future Innovations: Roadmap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11640" y="1228320"/>
            <a:ext cx="7920000" cy="55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Our roadmap includes exciting features like advanced analysis, notifications, and biometric authentication. We are constantly enhancing StockIt for a superior user experience.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611640" y="1983960"/>
            <a:ext cx="174600" cy="1048320"/>
          </a:xfrm>
          <a:prstGeom prst="roundRect">
            <a:avLst>
              <a:gd name="adj" fmla="val 150002"/>
            </a:avLst>
          </a:prstGeom>
          <a:solidFill>
            <a:srgbClr val="0A081B"/>
          </a:solidFill>
          <a:ln w="15240">
            <a:solidFill>
              <a:srgbClr val="16FF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961200" y="2158560"/>
            <a:ext cx="19418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Advanced Analytics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961200" y="2506320"/>
            <a:ext cx="757044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More technical analysis tools.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874080" y="3163680"/>
            <a:ext cx="174600" cy="1048320"/>
          </a:xfrm>
          <a:prstGeom prst="roundRect">
            <a:avLst>
              <a:gd name="adj" fmla="val 150002"/>
            </a:avLst>
          </a:prstGeom>
          <a:solidFill>
            <a:srgbClr val="0A081B"/>
          </a:solidFill>
          <a:ln w="15240">
            <a:solidFill>
              <a:srgbClr val="29DD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1223640" y="3338640"/>
            <a:ext cx="19418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Push Notifications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1223640" y="3686040"/>
            <a:ext cx="73083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Real-time price alerts.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1136160" y="4343400"/>
            <a:ext cx="174600" cy="1048320"/>
          </a:xfrm>
          <a:prstGeom prst="roundRect">
            <a:avLst>
              <a:gd name="adj" fmla="val 150002"/>
            </a:avLst>
          </a:prstGeom>
          <a:solidFill>
            <a:srgbClr val="0A081B"/>
          </a:solidFill>
          <a:ln w="15240">
            <a:solidFill>
              <a:srgbClr val="37A7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1485720" y="4518360"/>
            <a:ext cx="19418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Biometric Auth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1485720" y="4865760"/>
            <a:ext cx="704628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Fingerprint/face unlock.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1398240" y="5523480"/>
            <a:ext cx="174600" cy="1048320"/>
          </a:xfrm>
          <a:prstGeom prst="roundRect">
            <a:avLst>
              <a:gd name="adj" fmla="val 150002"/>
            </a:avLst>
          </a:prstGeom>
          <a:solidFill>
            <a:srgbClr val="0A081B"/>
          </a:solidFill>
          <a:ln w="15240">
            <a:solidFill>
              <a:srgbClr val="0912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1747800" y="5698080"/>
            <a:ext cx="19418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Offline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1747800" y="6045480"/>
            <a:ext cx="678420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Local caching for data.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1136160" y="6703200"/>
            <a:ext cx="174600" cy="1048320"/>
          </a:xfrm>
          <a:prstGeom prst="roundRect">
            <a:avLst>
              <a:gd name="adj" fmla="val 150002"/>
            </a:avLst>
          </a:prstGeom>
          <a:solidFill>
            <a:srgbClr val="0A081B"/>
          </a:solidFill>
          <a:ln w="15240">
            <a:solidFill>
              <a:srgbClr val="16FF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1485720" y="6877800"/>
            <a:ext cx="19418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0E4E6"/>
                </a:solidFill>
                <a:effectLst/>
                <a:uFillTx/>
                <a:latin typeface="Spline Sans Bold"/>
                <a:ea typeface="Spline Sans Bold"/>
              </a:rPr>
              <a:t>AI-Powered Insights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1485720" y="7225200"/>
            <a:ext cx="704628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Smarter trading suggestions.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864000" y="319176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F0FCFF"/>
                </a:solidFill>
                <a:effectLst/>
                <a:uFillTx/>
                <a:latin typeface="Spline Sans Bold"/>
                <a:ea typeface="Spline Sans Bold"/>
              </a:rPr>
              <a:t>Thank You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864000" y="4247640"/>
            <a:ext cx="12902040" cy="78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0E4E6"/>
                </a:solidFill>
                <a:effectLst/>
                <a:uFillTx/>
                <a:latin typeface="Barlow"/>
                <a:ea typeface="Barlow"/>
              </a:rPr>
              <a:t>We appreciate your time today. StockIt is designed to empower your financial journey. Download the app to start trading smarter.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12801600" y="7794720"/>
            <a:ext cx="1750320" cy="369000"/>
          </a:xfrm>
          <a:prstGeom prst="rect">
            <a:avLst/>
          </a:prstGeom>
          <a:solidFill>
            <a:srgbClr val="06051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864000" y="5739120"/>
            <a:ext cx="8995108" cy="6756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20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GitHub link- </a:t>
            </a:r>
            <a:r>
              <a:rPr lang="en-US" sz="2000" dirty="0">
                <a:solidFill>
                  <a:schemeClr val="lt1"/>
                </a:solidFill>
              </a:rPr>
              <a:t>https://github.com/khatarnaak-khiladi/Trading-platform/tree/main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746</Words>
  <Application>Microsoft Office PowerPoint</Application>
  <PresentationFormat>Custom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Barlow</vt:lpstr>
      <vt:lpstr>Calibri</vt:lpstr>
      <vt:lpstr>Spline Sans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Ashish kumar</dc:creator>
  <dc:description/>
  <cp:lastModifiedBy>Shashank Shekhar</cp:lastModifiedBy>
  <cp:revision>5</cp:revision>
  <dcterms:created xsi:type="dcterms:W3CDTF">2025-06-19T10:35:06Z</dcterms:created>
  <dcterms:modified xsi:type="dcterms:W3CDTF">2025-10-21T17:36:28Z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